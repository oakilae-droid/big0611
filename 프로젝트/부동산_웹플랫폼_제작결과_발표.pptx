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부동산 웹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E0F2FE"/>
                </a:solidFill>
              </a:defRPr>
            </a:pPr>
            <a:r>
              <a:t>제작 결과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팀원: 김길동 · 홍길동 · 박미금 · 김서연</a:t>
            </a:r>
          </a:p>
          <a:p>
            <a:pPr algn="ctr">
              <a:defRPr sz="1600">
                <a:solidFill>
                  <a:srgbClr val="E0F2FE"/>
                </a:solidFill>
              </a:defRPr>
            </a:pPr>
            <a:r>
              <a:t>발표 시간: 20분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68E"/>
                </a:solidFill>
              </a:defRPr>
            </a:pPr>
            <a:r>
              <a:t>구성원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201168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김길동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49377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팀장 / 백엔드 개발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Spring Boot · API 설계 · DB 연동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288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828800"/>
            <a:ext cx="73152" cy="2011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011680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홍길동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423160"/>
            <a:ext cx="49377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프론트엔드 개발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HTML · CSS · JS · Bootstrap 5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73152" cy="2011680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97680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박미금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09160"/>
            <a:ext cx="49377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인프라 / 배포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Gradle 빌드 · TiDB · Render/EC2 배포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41148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4114800"/>
            <a:ext cx="73152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297680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김서연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4709160"/>
            <a:ext cx="49377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RPA · AI 분석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Python · 데이터 수집 · 시각화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68E"/>
                </a:solidFill>
              </a:defRPr>
            </a:pPr>
            <a: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목적: 부동산 매물 검색·등록·관리를 지원하는 통합 웹 플랫폼 구축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대상 사용자: 일반 사용자(매물 검색), 중개사/관리자(매물 등록·관리)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핵심 가치: 직관적인 UI, 안정적인 백엔드, 데이터 기반 의사결정 지원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개발 방식: 프론트-백 분리형 MVC, Spring Security 기반 인증/인가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부가 기능: RPA 자동화 + AI/데이터 분석으로 시장 트렌드 시각화</a:t>
            </a:r>
          </a:p>
          <a:p>
            <a:pPr>
              <a:spcAft>
                <a:spcPts val="1400"/>
              </a:spcAft>
              <a:defRPr sz="2200">
                <a:solidFill>
                  <a:srgbClr val="1E293B"/>
                </a:solidFill>
              </a:defRPr>
            </a:pPr>
            <a:r>
              <a:t>산출물: 웹 애플리케이션, DB 스키마, 배포 환경, 발표 자료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68E"/>
                </a:solidFill>
              </a:defRPr>
            </a:pPr>
            <a: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828800"/>
            <a:ext cx="77724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568E"/>
                </a:solidFill>
              </a:defRPr>
            </a:pPr>
            <a:r>
              <a:t>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92024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HTML · CSS · JavaScript</a:t>
            </a:r>
            <a:br/>
            <a:r>
              <a:t>Bootstrap 5 · Flexbox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2971800"/>
            <a:ext cx="77724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3063240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AB"/>
                </a:solidFill>
              </a:defRPr>
            </a:pPr>
            <a: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06324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Spring Boot 3.5.x · Thymeleaf</a:t>
            </a:r>
            <a:br/>
            <a:r>
              <a:t>Spring Security · 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4114800"/>
            <a:ext cx="77724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4206240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A87E"/>
                </a:solidFill>
              </a:defRPr>
            </a:pPr>
            <a:r>
              <a:t>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20624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MySQL 8 · JDBC Template</a:t>
            </a:r>
            <a:br/>
            <a:r>
              <a:t>TiDB (배포 DB)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5257800"/>
            <a:ext cx="777240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5349240"/>
            <a:ext cx="3200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7C3AED"/>
                </a:solidFill>
              </a:defRPr>
            </a:pPr>
            <a:r>
              <a:t>Automation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349240"/>
            <a:ext cx="4114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E293B"/>
                </a:solidFill>
              </a:defRPr>
            </a:pPr>
            <a:r>
              <a:t>Python RPA · AI 분석</a:t>
            </a:r>
            <a:br/>
            <a:r>
              <a:t>NumPy · Pandas · 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788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931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074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286000"/>
            <a:ext cx="1371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Client</a:t>
            </a:r>
            <a:br/>
            <a:r>
              <a:t>  ↓</a:t>
            </a:r>
            <a:br/>
            <a:r>
              <a:t>Server</a:t>
            </a:r>
            <a:br/>
            <a:r>
              <a:t>  ↓</a:t>
            </a:r>
            <a:br/>
            <a:r>
              <a:t>Database</a:t>
            </a:r>
            <a:br/>
            <a:r>
              <a:t>  ↓</a:t>
            </a:r>
            <a:br/>
            <a:r>
              <a:t>RPA/AI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68E"/>
                </a:solidFill>
              </a:defRPr>
            </a:pPr>
            <a:r>
              <a:t>프론트엔드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Frontend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41148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마크업 &amp; 스타일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HTML5 — 시맨틱 구조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CSS3 — 반응형 스타일링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Flexbox — 유연한 레이아웃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4114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UI 프레임워크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2316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Bootstrap 5 — 컴포넌트 UI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그리드 &amp; 유틸리티 클래스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모바일 우선 반응형 디자인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4747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28800"/>
            <a:ext cx="73152" cy="4114800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인터랙션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423160"/>
            <a:ext cx="3108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JavaScript — DOM 조작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AJAX/Fetch — 비동기 통신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폼 검증 · 동적 UI 업데이트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68E"/>
                </a:solidFill>
              </a:defRPr>
            </a:pPr>
            <a:r>
              <a:t>백엔드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Backend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03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런타임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68E"/>
                </a:solidFill>
              </a:defRPr>
            </a:pPr>
            <a:r>
              <a:t>JDK 21 (LTS)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28800"/>
            <a:ext cx="5303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2011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프레임워크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33172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68E"/>
                </a:solidFill>
              </a:defRPr>
            </a:pPr>
            <a:r>
              <a:t>Spring Boot 3.5.x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5303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템플릿 엔진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49039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68E"/>
                </a:solidFill>
              </a:defRPr>
            </a:pPr>
            <a:r>
              <a:t>Thymeleaf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246120"/>
            <a:ext cx="5303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3429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웹 서버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749039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68E"/>
                </a:solidFill>
              </a:defRPr>
            </a:pPr>
            <a:r>
              <a:t>Tomcat 10.1 (내장)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5303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데이터베이스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59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68E"/>
                </a:solidFill>
              </a:defRPr>
            </a:pPr>
            <a:r>
              <a:t>MySQL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4663440"/>
            <a:ext cx="5303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4846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빌드 도구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5166359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A568E"/>
                </a:solidFill>
              </a:defRPr>
            </a:pPr>
            <a:r>
              <a:t>Gradle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68E"/>
                </a:solidFill>
              </a:defRPr>
            </a:pPr>
            <a:r>
              <a:t>빌드 및 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Build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0292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384048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빌드 (Gradle)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의존성 관리 및 멀티 모듈 빌드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bootJar로 실행 가능 JAR 생성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테스트 · 컴파일 · 패키징 자동화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CI/CD 파이프라인 연동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0292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73152" cy="3840480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배포 환경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DB: TiDB (MySQL 호환 분산 DB)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호스팅: Render 또는 AWS EC2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Tomcat 10.1 위 Spring Boot 실행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HTTPS · 환경변수 기반 설정 분리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배포 흐름:  Source → Gradle Build → JAR → Render/EC2 → TiDB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68E"/>
                </a:solidFill>
              </a:defRPr>
            </a:pPr>
            <a:r>
              <a:t>Spring 의존성 (DI)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Dependencies &amp;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303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12344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spring-boot-starter-web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49377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REST API · MVC · 내장 Tomcat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28800"/>
            <a:ext cx="5303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828800"/>
            <a:ext cx="73152" cy="12344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011680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spring-boot-starter-security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423160"/>
            <a:ext cx="49377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인증/인가 · BCrypt 암호화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303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246120"/>
            <a:ext cx="73152" cy="1234440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429000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spring-boot-starter-thymeleaf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40480"/>
            <a:ext cx="49377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서버 사이드 템플릿 렌더링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246120"/>
            <a:ext cx="5303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246120"/>
            <a:ext cx="73152" cy="12344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3429000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mysql-connector-j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840480"/>
            <a:ext cx="49377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MySQL 8 JDBC 드라이버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63440"/>
            <a:ext cx="5303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663440"/>
            <a:ext cx="73152" cy="12344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846320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spring-boot-starter-jdbc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257800"/>
            <a:ext cx="49377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JdbcTemplate · SQL 실행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4663440"/>
            <a:ext cx="5303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4663440"/>
            <a:ext cx="73152" cy="1234440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59" y="4846320"/>
            <a:ext cx="49377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lombok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5257800"/>
            <a:ext cx="49377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보일러플레이트 코드 자동 생성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568E"/>
                </a:solidFill>
              </a:defRPr>
            </a:pPr>
            <a:r>
              <a:t>RPA · AI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Python Automation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18288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NumPy — 수치 연산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Pandas — 데이터프레임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73152" cy="1828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시각화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231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Matplotlib · Seaborn — 차트/그래프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Plotly — 인터랙티브 대시보드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73152" cy="1828800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14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수집 &amp;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262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Requests · BeautifulSoup — 웹 크롤링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Scikit-learn — 예측 모델 · 분류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73152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11480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568E"/>
                </a:solidFill>
              </a:defRPr>
            </a:pPr>
            <a:r>
              <a:t>활용 시나리오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5262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매물 시세 트렌드 자동 수집 (RPA)</a:t>
            </a:r>
          </a:p>
          <a:p>
            <a:pPr>
              <a:spcAft>
                <a:spcPts val="400"/>
              </a:spcAft>
              <a:defRPr sz="1300">
                <a:solidFill>
                  <a:srgbClr val="64748B"/>
                </a:solidFill>
              </a:defRPr>
            </a:pPr>
            <a:r>
              <a:t>지역별 가격 예측 · 시각화 리포트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결론 및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7432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>
                <a:solidFill>
                  <a:srgbClr val="E0F2FE"/>
                </a:solidFill>
              </a:defRPr>
            </a:pPr>
            <a:r>
              <a:t>✓  부동산 매물 검색·등록·관리 웹 플랫폼 완성</a:t>
            </a:r>
          </a:p>
          <a:p>
            <a:pPr algn="l">
              <a:spcAft>
                <a:spcPts val="1000"/>
              </a:spcAft>
              <a:defRPr sz="1800">
                <a:solidFill>
                  <a:srgbClr val="E0F2FE"/>
                </a:solidFill>
              </a:defRPr>
            </a:pPr>
            <a:r>
              <a:t>✓  Spring Boot + MySQL 기반 안정적 백엔드 구현</a:t>
            </a:r>
          </a:p>
          <a:p>
            <a:pPr algn="l">
              <a:spcAft>
                <a:spcPts val="1000"/>
              </a:spcAft>
              <a:defRPr sz="1800">
                <a:solidFill>
                  <a:srgbClr val="E0F2FE"/>
                </a:solidFill>
              </a:defRPr>
            </a:pPr>
            <a:r>
              <a:t>✓  Bootstrap 5 반응형 프론트엔드 UI 적용</a:t>
            </a:r>
          </a:p>
          <a:p>
            <a:pPr algn="l">
              <a:spcAft>
                <a:spcPts val="1000"/>
              </a:spcAft>
              <a:defRPr sz="1800">
                <a:solidFill>
                  <a:srgbClr val="E0F2FE"/>
                </a:solidFill>
              </a:defRPr>
            </a:pPr>
            <a:r>
              <a:t>✓  RPA/AI 연동으로 데이터 기반 분석 기능 확보</a:t>
            </a:r>
          </a:p>
          <a:p>
            <a:pPr algn="l">
              <a:spcAft>
                <a:spcPts val="1000"/>
              </a:spcAft>
              <a:defRPr sz="1800">
                <a:solidFill>
                  <a:srgbClr val="E0F2FE"/>
                </a:solidFill>
              </a:defRPr>
            </a:pPr>
            <a:r>
              <a:t>✓  TiDB · Render/EC2 클라우드 배포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A87E"/>
                </a:solidFill>
              </a:defRPr>
            </a:pPr>
            <a:r>
              <a:t>감사합니다  |  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김길동 · 홍길동 · 박미금 · 김서연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